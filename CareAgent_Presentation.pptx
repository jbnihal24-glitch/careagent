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iWqF3gxizHzRkPvOaE61SrIY/B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Without CareAgent</c:v>
                </c:pt>
              </c:strCache>
            </c:strRef>
          </c:tx>
          <c:spPr>
            <a:solidFill>
              <a:srgbClr val="7B92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Diagnostic Accuracy</c:v>
                  </c:pt>
                  <c:pt idx="1">
                    <c:v>Time to Decision (inv.)</c:v>
                  </c:pt>
                  <c:pt idx="2">
                    <c:v>Clinician Confidence</c:v>
                  </c:pt>
                  <c:pt idx="3">
                    <c:v>Documentation Speed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</c:v>
                </c:pt>
                <c:pt idx="1">
                  <c:v>55</c:v>
                </c:pt>
                <c:pt idx="2">
                  <c:v>61</c:v>
                </c:pt>
                <c:pt idx="3">
                  <c:v>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CareAgent</c:v>
                </c:pt>
              </c:strCache>
            </c:strRef>
          </c:tx>
          <c:spPr>
            <a:solidFill>
              <a:srgbClr val="3D99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Diagnostic Accuracy</c:v>
                  </c:pt>
                  <c:pt idx="1">
                    <c:v>Time to Decision (inv.)</c:v>
                  </c:pt>
                  <c:pt idx="2">
                    <c:v>Clinician Confidence</c:v>
                  </c:pt>
                  <c:pt idx="3">
                    <c:v>Documentation Speed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89</c:v>
                </c:pt>
                <c:pt idx="1">
                  <c:v>82</c:v>
                </c:pt>
                <c:pt idx="2">
                  <c:v>84</c:v>
                </c:pt>
                <c:pt idx="3">
                  <c:v>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EF2F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1D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EF2F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13315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3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image" Target="../media/image16.png"/><Relationship Id="rId6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5.png"/><Relationship Id="rId6" Type="http://schemas.openxmlformats.org/officeDocument/2006/relationships/image" Target="../media/image16.png"/><Relationship Id="rId7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3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Relationship Id="rId5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13315C"/>
          </a:solidFill>
          <a:ln cap="flat" cmpd="sng" w="12700">
            <a:solidFill>
              <a:srgbClr val="1331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3D9970">
              <a:alpha val="25098"/>
            </a:srgbClr>
          </a:solidFill>
          <a:ln cap="flat" cmpd="sng" w="12700">
            <a:solidFill>
              <a:srgbClr val="3D9970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27432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411480" y="777240"/>
            <a:ext cx="6858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Georgia"/>
              <a:buNone/>
            </a:pPr>
            <a:r>
              <a:rPr b="1" i="0" lang="en-US" sz="5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CareAgent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11480" y="2011680"/>
            <a:ext cx="7132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97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3D9970"/>
                </a:solidFill>
                <a:latin typeface="Calibri"/>
                <a:ea typeface="Calibri"/>
                <a:cs typeface="Calibri"/>
                <a:sym typeface="Calibri"/>
              </a:rPr>
              <a:t>Intelligent Agent-Based Healthcare Decision Support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11480" y="2651760"/>
            <a:ext cx="7132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A8C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8EA8C3"/>
                </a:solidFill>
                <a:latin typeface="Calibri"/>
                <a:ea typeface="Calibri"/>
                <a:cs typeface="Calibri"/>
                <a:sym typeface="Calibri"/>
              </a:rPr>
              <a:t>Automating Complex Clinical Tasks · Enhancing Human Decision-Making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11480" y="3246120"/>
            <a:ext cx="5303520" cy="45720"/>
          </a:xfrm>
          <a:prstGeom prst="rect">
            <a:avLst/>
          </a:prstGeom>
          <a:solidFill>
            <a:srgbClr val="8EA8C3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Challenge in Modern Healthcare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365760" y="1051560"/>
            <a:ext cx="2697480" cy="2606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365760" y="1051560"/>
            <a:ext cx="269748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2344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"/>
          <p:cNvSpPr/>
          <p:nvPr/>
        </p:nvSpPr>
        <p:spPr>
          <a:xfrm>
            <a:off x="457200" y="1828800"/>
            <a:ext cx="2514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795,000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75488" y="2542032"/>
            <a:ext cx="24871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diagnostic errors per year (USA)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75488" y="3246120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92A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7B92A8"/>
                </a:solidFill>
                <a:latin typeface="Calibri"/>
                <a:ea typeface="Calibri"/>
                <a:cs typeface="Calibri"/>
                <a:sym typeface="Calibri"/>
              </a:rPr>
              <a:t>Singh et al., 2023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246120" y="1051560"/>
            <a:ext cx="2697480" cy="2606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3246120" y="1051560"/>
            <a:ext cx="2697480" cy="64008"/>
          </a:xfrm>
          <a:prstGeom prst="rect">
            <a:avLst/>
          </a:prstGeom>
          <a:solidFill>
            <a:srgbClr val="8EA8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9000" y="12344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3337560" y="1828800"/>
            <a:ext cx="2514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55%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355848" y="2542032"/>
            <a:ext cx="24871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of clinicians report decision fatigue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355848" y="3246120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92A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7B92A8"/>
                </a:solidFill>
                <a:latin typeface="Calibri"/>
                <a:ea typeface="Calibri"/>
                <a:cs typeface="Calibri"/>
                <a:sym typeface="Calibri"/>
              </a:rPr>
              <a:t>BMJ, 2022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126480" y="1051560"/>
            <a:ext cx="2697480" cy="2606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6126480" y="1051560"/>
            <a:ext cx="2697480" cy="64008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9360" y="12344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/>
          <p:cNvSpPr/>
          <p:nvPr/>
        </p:nvSpPr>
        <p:spPr>
          <a:xfrm>
            <a:off x="6217920" y="1828800"/>
            <a:ext cx="2514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2.4 hrs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236208" y="2542032"/>
            <a:ext cx="24871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daily lost to manual data review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236208" y="3246120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92A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7B92A8"/>
                </a:solidFill>
                <a:latin typeface="Calibri"/>
                <a:ea typeface="Calibri"/>
                <a:cs typeface="Calibri"/>
                <a:sym typeface="Calibri"/>
              </a:rPr>
              <a:t>NHS Digital, 2023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365760" y="3840480"/>
            <a:ext cx="8412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Current clinical AI tools assist in detection — but cannot coordinate across patient data, reason transparently, or adapt to individual clinical contexts. CareAgent bridges this gap.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411480" y="22860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What Is CareAgent?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11480" y="960120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A8C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8EA8C3"/>
                </a:solidFill>
                <a:latin typeface="Calibri"/>
                <a:ea typeface="Calibri"/>
                <a:cs typeface="Calibri"/>
                <a:sym typeface="Calibri"/>
              </a:rPr>
              <a:t>A collaborative multi-agent AI system that automates complex clinical tasks, synthesises patient data, and delivers explainable decision support to clinicians in real time.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365760" y="1828800"/>
            <a:ext cx="4206240" cy="1298448"/>
          </a:xfrm>
          <a:prstGeom prst="rect">
            <a:avLst/>
          </a:prstGeom>
          <a:solidFill>
            <a:srgbClr val="13315C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365760" y="1828800"/>
            <a:ext cx="64008" cy="1298448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" y="2011680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3"/>
          <p:cNvSpPr/>
          <p:nvPr/>
        </p:nvSpPr>
        <p:spPr>
          <a:xfrm>
            <a:off x="1078992" y="1920240"/>
            <a:ext cx="3383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970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3D9970"/>
                </a:solidFill>
                <a:latin typeface="Georgia"/>
                <a:ea typeface="Georgia"/>
                <a:cs typeface="Georgia"/>
                <a:sym typeface="Georgia"/>
              </a:rPr>
              <a:t>Patient Intake Agent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078992" y="2340864"/>
            <a:ext cx="3383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EF2F7"/>
                </a:solidFill>
                <a:latin typeface="Calibri"/>
                <a:ea typeface="Calibri"/>
                <a:cs typeface="Calibri"/>
                <a:sym typeface="Calibri"/>
              </a:rPr>
              <a:t>Automatically parses EHR records, lab results, and imaging reports on admission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800600" y="1828800"/>
            <a:ext cx="4206240" cy="1298448"/>
          </a:xfrm>
          <a:prstGeom prst="rect">
            <a:avLst/>
          </a:prstGeom>
          <a:solidFill>
            <a:srgbClr val="13315C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4800600" y="1828800"/>
            <a:ext cx="64008" cy="1298448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5192" y="2011680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/>
          <p:cNvSpPr/>
          <p:nvPr/>
        </p:nvSpPr>
        <p:spPr>
          <a:xfrm>
            <a:off x="5513832" y="1920240"/>
            <a:ext cx="3383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970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3D9970"/>
                </a:solidFill>
                <a:latin typeface="Georgia"/>
                <a:ea typeface="Georgia"/>
                <a:cs typeface="Georgia"/>
                <a:sym typeface="Georgia"/>
              </a:rPr>
              <a:t>Diagnostic Reasoning Agent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5513832" y="2340864"/>
            <a:ext cx="3383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EF2F7"/>
                </a:solidFill>
                <a:latin typeface="Calibri"/>
                <a:ea typeface="Calibri"/>
                <a:cs typeface="Calibri"/>
                <a:sym typeface="Calibri"/>
              </a:rPr>
              <a:t>Synthesises symptoms + history using differential diagnosis algorithms and LLM reasoning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365760" y="3291840"/>
            <a:ext cx="4206240" cy="1298448"/>
          </a:xfrm>
          <a:prstGeom prst="rect">
            <a:avLst/>
          </a:prstGeom>
          <a:solidFill>
            <a:srgbClr val="13315C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365760" y="3291840"/>
            <a:ext cx="64008" cy="1298448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0352" y="3474720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/>
          <p:nvPr/>
        </p:nvSpPr>
        <p:spPr>
          <a:xfrm>
            <a:off x="1078992" y="3383280"/>
            <a:ext cx="3383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970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3D9970"/>
                </a:solidFill>
                <a:latin typeface="Georgia"/>
                <a:ea typeface="Georgia"/>
                <a:cs typeface="Georgia"/>
                <a:sym typeface="Georgia"/>
              </a:rPr>
              <a:t>Treatment Planner Agent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078992" y="3803904"/>
            <a:ext cx="3383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EF2F7"/>
                </a:solidFill>
                <a:latin typeface="Calibri"/>
                <a:ea typeface="Calibri"/>
                <a:cs typeface="Calibri"/>
                <a:sym typeface="Calibri"/>
              </a:rPr>
              <a:t>Cross-references clinical guidelines (NICE, SIGN) to propose evidence-based care pathways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800600" y="3291840"/>
            <a:ext cx="4206240" cy="1298448"/>
          </a:xfrm>
          <a:prstGeom prst="rect">
            <a:avLst/>
          </a:prstGeom>
          <a:solidFill>
            <a:srgbClr val="13315C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4800600" y="3291840"/>
            <a:ext cx="64008" cy="1298448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" name="Google Shape;75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5192" y="3474720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"/>
          <p:cNvSpPr/>
          <p:nvPr/>
        </p:nvSpPr>
        <p:spPr>
          <a:xfrm>
            <a:off x="5513832" y="3383280"/>
            <a:ext cx="3383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970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3D9970"/>
                </a:solidFill>
                <a:latin typeface="Georgia"/>
                <a:ea typeface="Georgia"/>
                <a:cs typeface="Georgia"/>
                <a:sym typeface="Georgia"/>
              </a:rPr>
              <a:t>Clinician Liaison Agent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513832" y="3803904"/>
            <a:ext cx="3383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EF2F7"/>
                </a:solidFill>
                <a:latin typeface="Calibri"/>
                <a:ea typeface="Calibri"/>
                <a:cs typeface="Calibri"/>
                <a:sym typeface="Calibri"/>
              </a:rPr>
              <a:t>Delivers plain-language summaries and SHAP-powered explanations to support trust calibration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Multi-Agent Architecture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971800" y="1005840"/>
            <a:ext cx="3200400" cy="713232"/>
          </a:xfrm>
          <a:prstGeom prst="rect">
            <a:avLst/>
          </a:prstGeom>
          <a:solidFill>
            <a:srgbClr val="0B2545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7248" y="1069848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"/>
          <p:cNvSpPr/>
          <p:nvPr/>
        </p:nvSpPr>
        <p:spPr>
          <a:xfrm>
            <a:off x="3611880" y="109728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Orchestrator Agent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" name="Google Shape;88;p4"/>
          <p:cNvCxnSpPr/>
          <p:nvPr/>
        </p:nvCxnSpPr>
        <p:spPr>
          <a:xfrm>
            <a:off x="4562856" y="1719072"/>
            <a:ext cx="0" cy="246888"/>
          </a:xfrm>
          <a:prstGeom prst="straightConnector1">
            <a:avLst/>
          </a:prstGeom>
          <a:noFill/>
          <a:ln cap="flat" cmpd="sng" w="19050">
            <a:solidFill>
              <a:srgbClr val="7B92A8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9" name="Google Shape;89;p4"/>
          <p:cNvCxnSpPr/>
          <p:nvPr/>
        </p:nvCxnSpPr>
        <p:spPr>
          <a:xfrm>
            <a:off x="1280160" y="1965960"/>
            <a:ext cx="3291840" cy="0"/>
          </a:xfrm>
          <a:prstGeom prst="straightConnector1">
            <a:avLst/>
          </a:prstGeom>
          <a:noFill/>
          <a:ln cap="flat" cmpd="sng" w="19050">
            <a:solidFill>
              <a:srgbClr val="7B92A8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0" name="Google Shape;90;p4"/>
          <p:cNvCxnSpPr/>
          <p:nvPr/>
        </p:nvCxnSpPr>
        <p:spPr>
          <a:xfrm>
            <a:off x="1271016" y="1965960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7B92A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1" name="Google Shape;91;p4"/>
          <p:cNvSpPr/>
          <p:nvPr/>
        </p:nvSpPr>
        <p:spPr>
          <a:xfrm>
            <a:off x="274320" y="2148840"/>
            <a:ext cx="201168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274320" y="2148840"/>
            <a:ext cx="2011680" cy="64008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" name="Google Shape;9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4128" y="23317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"/>
          <p:cNvSpPr/>
          <p:nvPr/>
        </p:nvSpPr>
        <p:spPr>
          <a:xfrm>
            <a:off x="365760" y="2953512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Patient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Intake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4"/>
          <p:cNvCxnSpPr/>
          <p:nvPr/>
        </p:nvCxnSpPr>
        <p:spPr>
          <a:xfrm>
            <a:off x="4562856" y="1719072"/>
            <a:ext cx="0" cy="246888"/>
          </a:xfrm>
          <a:prstGeom prst="straightConnector1">
            <a:avLst/>
          </a:prstGeom>
          <a:noFill/>
          <a:ln cap="flat" cmpd="sng" w="19050">
            <a:solidFill>
              <a:srgbClr val="7B92A8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6" name="Google Shape;96;p4"/>
          <p:cNvCxnSpPr/>
          <p:nvPr/>
        </p:nvCxnSpPr>
        <p:spPr>
          <a:xfrm>
            <a:off x="3474720" y="1965960"/>
            <a:ext cx="1097280" cy="0"/>
          </a:xfrm>
          <a:prstGeom prst="straightConnector1">
            <a:avLst/>
          </a:prstGeom>
          <a:noFill/>
          <a:ln cap="flat" cmpd="sng" w="19050">
            <a:solidFill>
              <a:srgbClr val="7B92A8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7" name="Google Shape;97;p4"/>
          <p:cNvCxnSpPr/>
          <p:nvPr/>
        </p:nvCxnSpPr>
        <p:spPr>
          <a:xfrm>
            <a:off x="3465576" y="1965960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7B92A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8" name="Google Shape;98;p4"/>
          <p:cNvSpPr/>
          <p:nvPr/>
        </p:nvSpPr>
        <p:spPr>
          <a:xfrm>
            <a:off x="2468880" y="2148840"/>
            <a:ext cx="201168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2468880" y="2148840"/>
            <a:ext cx="2011680" cy="64008"/>
          </a:xfrm>
          <a:prstGeom prst="rect">
            <a:avLst/>
          </a:prstGeom>
          <a:solidFill>
            <a:srgbClr val="8EA8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" name="Google Shape;10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18688" y="23317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4"/>
          <p:cNvSpPr/>
          <p:nvPr/>
        </p:nvSpPr>
        <p:spPr>
          <a:xfrm>
            <a:off x="2560320" y="2953512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Diagnostic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Reasoner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4"/>
          <p:cNvCxnSpPr/>
          <p:nvPr/>
        </p:nvCxnSpPr>
        <p:spPr>
          <a:xfrm>
            <a:off x="4562856" y="1719072"/>
            <a:ext cx="0" cy="246888"/>
          </a:xfrm>
          <a:prstGeom prst="straightConnector1">
            <a:avLst/>
          </a:prstGeom>
          <a:noFill/>
          <a:ln cap="flat" cmpd="sng" w="19050">
            <a:solidFill>
              <a:srgbClr val="7B92A8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3" name="Google Shape;103;p4"/>
          <p:cNvCxnSpPr/>
          <p:nvPr/>
        </p:nvCxnSpPr>
        <p:spPr>
          <a:xfrm>
            <a:off x="4572000" y="1965960"/>
            <a:ext cx="1097280" cy="0"/>
          </a:xfrm>
          <a:prstGeom prst="straightConnector1">
            <a:avLst/>
          </a:prstGeom>
          <a:noFill/>
          <a:ln cap="flat" cmpd="sng" w="19050">
            <a:solidFill>
              <a:srgbClr val="7B92A8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4" name="Google Shape;104;p4"/>
          <p:cNvCxnSpPr/>
          <p:nvPr/>
        </p:nvCxnSpPr>
        <p:spPr>
          <a:xfrm>
            <a:off x="5660136" y="1965960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7B92A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5" name="Google Shape;105;p4"/>
          <p:cNvSpPr/>
          <p:nvPr/>
        </p:nvSpPr>
        <p:spPr>
          <a:xfrm>
            <a:off x="4663440" y="2148840"/>
            <a:ext cx="201168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4663440" y="2148840"/>
            <a:ext cx="2011680" cy="64008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" name="Google Shape;10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13248" y="23317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/>
          <p:nvPr/>
        </p:nvSpPr>
        <p:spPr>
          <a:xfrm>
            <a:off x="4754880" y="2953512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Treatment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Planner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4"/>
          <p:cNvCxnSpPr/>
          <p:nvPr/>
        </p:nvCxnSpPr>
        <p:spPr>
          <a:xfrm>
            <a:off x="4562856" y="1719072"/>
            <a:ext cx="0" cy="246888"/>
          </a:xfrm>
          <a:prstGeom prst="straightConnector1">
            <a:avLst/>
          </a:prstGeom>
          <a:noFill/>
          <a:ln cap="flat" cmpd="sng" w="19050">
            <a:solidFill>
              <a:srgbClr val="7B92A8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0" name="Google Shape;110;p4"/>
          <p:cNvCxnSpPr/>
          <p:nvPr/>
        </p:nvCxnSpPr>
        <p:spPr>
          <a:xfrm>
            <a:off x="4572000" y="1965960"/>
            <a:ext cx="3291840" cy="0"/>
          </a:xfrm>
          <a:prstGeom prst="straightConnector1">
            <a:avLst/>
          </a:prstGeom>
          <a:noFill/>
          <a:ln cap="flat" cmpd="sng" w="19050">
            <a:solidFill>
              <a:srgbClr val="7B92A8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1" name="Google Shape;111;p4"/>
          <p:cNvCxnSpPr/>
          <p:nvPr/>
        </p:nvCxnSpPr>
        <p:spPr>
          <a:xfrm>
            <a:off x="7854696" y="1965960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7B92A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2" name="Google Shape;112;p4"/>
          <p:cNvSpPr/>
          <p:nvPr/>
        </p:nvSpPr>
        <p:spPr>
          <a:xfrm>
            <a:off x="6858000" y="2148840"/>
            <a:ext cx="201168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6858000" y="2148840"/>
            <a:ext cx="2011680" cy="64008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4" name="Google Shape;11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07808" y="23317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/>
          <p:nvPr/>
        </p:nvSpPr>
        <p:spPr>
          <a:xfrm>
            <a:off x="6949440" y="2953512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Clinician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Liaison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274320" y="3886200"/>
            <a:ext cx="8595360" cy="0"/>
          </a:xfrm>
          <a:prstGeom prst="straightConnector1">
            <a:avLst/>
          </a:prstGeom>
          <a:noFill/>
          <a:ln cap="flat" cmpd="sng" w="12700">
            <a:solidFill>
              <a:srgbClr val="7B92A8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4"/>
          <p:cNvSpPr/>
          <p:nvPr/>
        </p:nvSpPr>
        <p:spPr>
          <a:xfrm>
            <a:off x="274320" y="39776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2A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B92A8"/>
                </a:solidFill>
                <a:latin typeface="Calibri"/>
                <a:ea typeface="Calibri"/>
                <a:cs typeface="Calibri"/>
                <a:sym typeface="Calibri"/>
              </a:rPr>
              <a:t>EHR / Lab / Imaging Data  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303520" y="39776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92A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B92A8"/>
                </a:solidFill>
                <a:latin typeface="Calibri"/>
                <a:ea typeface="Calibri"/>
                <a:cs typeface="Calibri"/>
                <a:sym typeface="Calibri"/>
              </a:rPr>
              <a:t>→  Explainable Clinical Report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411480" y="201168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Key Innovations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365760" y="1051560"/>
            <a:ext cx="8412480" cy="868680"/>
          </a:xfrm>
          <a:prstGeom prst="rect">
            <a:avLst/>
          </a:prstGeom>
          <a:solidFill>
            <a:srgbClr val="13315C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7" name="Google Shape;12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234440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5"/>
          <p:cNvSpPr/>
          <p:nvPr/>
        </p:nvSpPr>
        <p:spPr>
          <a:xfrm>
            <a:off x="1078992" y="1097280"/>
            <a:ext cx="2286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970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3D9970"/>
                </a:solidFill>
                <a:latin typeface="Georgia"/>
                <a:ea typeface="Georgia"/>
                <a:cs typeface="Georgia"/>
                <a:sym typeface="Georgia"/>
              </a:rPr>
              <a:t>XAI-First Design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1078992" y="1499616"/>
            <a:ext cx="7498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EF2F7"/>
                </a:solidFill>
                <a:latin typeface="Calibri"/>
                <a:ea typeface="Calibri"/>
                <a:cs typeface="Calibri"/>
                <a:sym typeface="Calibri"/>
              </a:rPr>
              <a:t>SHAP values and counterfactual explanations embedded into every recommendation, giving clinicians 'why' not just 'what'.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365760" y="2039112"/>
            <a:ext cx="8412480" cy="868680"/>
          </a:xfrm>
          <a:prstGeom prst="rect">
            <a:avLst/>
          </a:prstGeom>
          <a:solidFill>
            <a:srgbClr val="13315C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1" name="Google Shape;13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" y="2221992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"/>
          <p:cNvSpPr/>
          <p:nvPr/>
        </p:nvSpPr>
        <p:spPr>
          <a:xfrm>
            <a:off x="1078992" y="2084832"/>
            <a:ext cx="2286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970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3D9970"/>
                </a:solidFill>
                <a:latin typeface="Georgia"/>
                <a:ea typeface="Georgia"/>
                <a:cs typeface="Georgia"/>
                <a:sym typeface="Georgia"/>
              </a:rPr>
              <a:t>Trust Calibration Engine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1078992" y="2487168"/>
            <a:ext cx="7498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EF2F7"/>
                </a:solidFill>
                <a:latin typeface="Calibri"/>
                <a:ea typeface="Calibri"/>
                <a:cs typeface="Calibri"/>
                <a:sym typeface="Calibri"/>
              </a:rPr>
              <a:t>Agents monitor clinician override patterns and adapt confidence thresholds to individual expertise levels over time.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365760" y="3026664"/>
            <a:ext cx="8412480" cy="868680"/>
          </a:xfrm>
          <a:prstGeom prst="rect">
            <a:avLst/>
          </a:prstGeom>
          <a:solidFill>
            <a:srgbClr val="13315C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5" name="Google Shape;13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0" y="320954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5"/>
          <p:cNvSpPr/>
          <p:nvPr/>
        </p:nvSpPr>
        <p:spPr>
          <a:xfrm>
            <a:off x="1078992" y="3072384"/>
            <a:ext cx="2286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970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3D9970"/>
                </a:solidFill>
                <a:latin typeface="Georgia"/>
                <a:ea typeface="Georgia"/>
                <a:cs typeface="Georgia"/>
                <a:sym typeface="Georgia"/>
              </a:rPr>
              <a:t>MIMIC-III Grounded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1078992" y="3474720"/>
            <a:ext cx="7498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EF2F7"/>
                </a:solidFill>
                <a:latin typeface="Calibri"/>
                <a:ea typeface="Calibri"/>
                <a:cs typeface="Calibri"/>
                <a:sym typeface="Calibri"/>
              </a:rPr>
              <a:t>Trained and validated on the MIMIC-III critical care dataset — 46,000+ ICU stays — ensuring clinical fidelity.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365760" y="4014216"/>
            <a:ext cx="8412480" cy="868680"/>
          </a:xfrm>
          <a:prstGeom prst="rect">
            <a:avLst/>
          </a:prstGeom>
          <a:solidFill>
            <a:srgbClr val="13315C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9" name="Google Shape;13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920" y="419709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5"/>
          <p:cNvSpPr/>
          <p:nvPr/>
        </p:nvSpPr>
        <p:spPr>
          <a:xfrm>
            <a:off x="1078992" y="4059936"/>
            <a:ext cx="2286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970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3D9970"/>
                </a:solidFill>
                <a:latin typeface="Georgia"/>
                <a:ea typeface="Georgia"/>
                <a:cs typeface="Georgia"/>
                <a:sym typeface="Georgia"/>
              </a:rPr>
              <a:t>Cognitive Load Aware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1078992" y="4462272"/>
            <a:ext cx="7498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EF2F7"/>
                </a:solidFill>
                <a:latin typeface="Calibri"/>
                <a:ea typeface="Calibri"/>
                <a:cs typeface="Calibri"/>
                <a:sym typeface="Calibri"/>
              </a:rPr>
              <a:t>Inline NASA-TLX sensing detects overload and auto-simplifies outputs, preventing information saturation in acute settings.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Technology Stack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320040" y="1005840"/>
            <a:ext cx="42062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320040" y="1005840"/>
            <a:ext cx="82296" cy="109728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521208" y="1097280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700"/>
              <a:buFont typeface="Consolas"/>
              <a:buNone/>
            </a:pPr>
            <a:r>
              <a:rPr b="1" i="0" lang="en-US" sz="1700" u="none" cap="none" strike="noStrike">
                <a:solidFill>
                  <a:srgbClr val="0B2545"/>
                </a:solidFill>
                <a:latin typeface="Consolas"/>
                <a:ea typeface="Consolas"/>
                <a:cs typeface="Consolas"/>
                <a:sym typeface="Consolas"/>
              </a:rPr>
              <a:t>Python 3.11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521208" y="1536192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Core agent logic, data pipeline &amp; orchestration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4754880" y="1005840"/>
            <a:ext cx="42062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4754880" y="1005840"/>
            <a:ext cx="82296" cy="109728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4956048" y="1097280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700"/>
              <a:buFont typeface="Consolas"/>
              <a:buNone/>
            </a:pPr>
            <a:r>
              <a:rPr b="1" i="0" lang="en-US" sz="1700" u="none" cap="none" strike="noStrike">
                <a:solidFill>
                  <a:srgbClr val="0B2545"/>
                </a:solidFill>
                <a:latin typeface="Consolas"/>
                <a:ea typeface="Consolas"/>
                <a:cs typeface="Consolas"/>
                <a:sym typeface="Consolas"/>
              </a:rPr>
              <a:t>LangChain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4956048" y="1536192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Multi-agent framework, memory &amp; tool routing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320040" y="2267712"/>
            <a:ext cx="42062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320040" y="2267712"/>
            <a:ext cx="82296" cy="1097280"/>
          </a:xfrm>
          <a:prstGeom prst="rect">
            <a:avLst/>
          </a:prstGeom>
          <a:solidFill>
            <a:srgbClr val="8EA8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521208" y="2359152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700"/>
              <a:buFont typeface="Consolas"/>
              <a:buNone/>
            </a:pPr>
            <a:r>
              <a:rPr b="1" i="0" lang="en-US" sz="1700" u="none" cap="none" strike="noStrike">
                <a:solidFill>
                  <a:srgbClr val="0B2545"/>
                </a:solidFill>
                <a:latin typeface="Consolas"/>
                <a:ea typeface="Consolas"/>
                <a:cs typeface="Consolas"/>
                <a:sym typeface="Consolas"/>
              </a:rPr>
              <a:t>Claude API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521208" y="2798064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LLM reasoning engine for Diagnostic &amp; Liaison agents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4754880" y="2267712"/>
            <a:ext cx="42062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4754880" y="2267712"/>
            <a:ext cx="82296" cy="109728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4956048" y="2359152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700"/>
              <a:buFont typeface="Consolas"/>
              <a:buNone/>
            </a:pPr>
            <a:r>
              <a:rPr b="1" i="0" lang="en-US" sz="1700" u="none" cap="none" strike="noStrike">
                <a:solidFill>
                  <a:srgbClr val="0B2545"/>
                </a:solidFill>
                <a:latin typeface="Consolas"/>
                <a:ea typeface="Consolas"/>
                <a:cs typeface="Consolas"/>
                <a:sym typeface="Consolas"/>
              </a:rPr>
              <a:t>MIMIC-III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4956048" y="2798064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ICU dataset — 46,520 patient records for training/evaluation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320040" y="3529584"/>
            <a:ext cx="42062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320040" y="3529584"/>
            <a:ext cx="82296" cy="1097280"/>
          </a:xfrm>
          <a:prstGeom prst="rect">
            <a:avLst/>
          </a:prstGeom>
          <a:solidFill>
            <a:srgbClr val="8EA8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521208" y="3621024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700"/>
              <a:buFont typeface="Consolas"/>
              <a:buNone/>
            </a:pPr>
            <a:r>
              <a:rPr b="1" i="0" lang="en-US" sz="1700" u="none" cap="none" strike="noStrike">
                <a:solidFill>
                  <a:srgbClr val="0B2545"/>
                </a:solidFill>
                <a:latin typeface="Consolas"/>
                <a:ea typeface="Consolas"/>
                <a:cs typeface="Consolas"/>
                <a:sym typeface="Consolas"/>
              </a:rPr>
              <a:t>SHAP + LIME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521208" y="4059936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Explainability layer: feature attribution &amp; local explanations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4754880" y="3529584"/>
            <a:ext cx="42062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4754880" y="3529584"/>
            <a:ext cx="82296" cy="109728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4956048" y="3621024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700"/>
              <a:buFont typeface="Consolas"/>
              <a:buNone/>
            </a:pPr>
            <a:r>
              <a:rPr b="1" i="0" lang="en-US" sz="1700" u="none" cap="none" strike="noStrike">
                <a:solidFill>
                  <a:srgbClr val="0B2545"/>
                </a:solidFill>
                <a:latin typeface="Consolas"/>
                <a:ea typeface="Consolas"/>
                <a:cs typeface="Consolas"/>
                <a:sym typeface="Consolas"/>
              </a:rPr>
              <a:t>FastAPI + React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4956048" y="4059936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Clinician-facing dashboard interface for demo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Prototype Demo: Clinical Workflow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320040" y="1042416"/>
            <a:ext cx="530352" cy="530352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320040" y="1042416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9970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3D9970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p7"/>
          <p:cNvCxnSpPr/>
          <p:nvPr/>
        </p:nvCxnSpPr>
        <p:spPr>
          <a:xfrm>
            <a:off x="576072" y="1572768"/>
            <a:ext cx="0" cy="274320"/>
          </a:xfrm>
          <a:prstGeom prst="straightConnector1">
            <a:avLst/>
          </a:prstGeom>
          <a:noFill/>
          <a:ln cap="flat" cmpd="sng" w="25400">
            <a:solidFill>
              <a:srgbClr val="3D99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p7"/>
          <p:cNvSpPr/>
          <p:nvPr/>
        </p:nvSpPr>
        <p:spPr>
          <a:xfrm>
            <a:off x="1005840" y="987552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Patient Admission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1005840" y="1353312"/>
            <a:ext cx="7772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Clinician inputs patient ID → Patient Intake Agent pulls EHR, labs, imaging automatically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320040" y="1865376"/>
            <a:ext cx="530352" cy="530352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320040" y="1865376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9970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3D9970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p7"/>
          <p:cNvCxnSpPr/>
          <p:nvPr/>
        </p:nvCxnSpPr>
        <p:spPr>
          <a:xfrm>
            <a:off x="576072" y="2395728"/>
            <a:ext cx="0" cy="274320"/>
          </a:xfrm>
          <a:prstGeom prst="straightConnector1">
            <a:avLst/>
          </a:prstGeom>
          <a:noFill/>
          <a:ln cap="flat" cmpd="sng" w="25400">
            <a:solidFill>
              <a:srgbClr val="3D99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7"/>
          <p:cNvSpPr/>
          <p:nvPr/>
        </p:nvSpPr>
        <p:spPr>
          <a:xfrm>
            <a:off x="1005840" y="1810512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Symptom Synthesis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1005840" y="2176272"/>
            <a:ext cx="7772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Diagnostic Reasoner Agent generates differential diagnosis ranked by probability with evidence links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320040" y="2688336"/>
            <a:ext cx="530352" cy="530352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320040" y="2688336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9970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3D9970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" name="Google Shape;192;p7"/>
          <p:cNvCxnSpPr/>
          <p:nvPr/>
        </p:nvCxnSpPr>
        <p:spPr>
          <a:xfrm>
            <a:off x="576072" y="3218688"/>
            <a:ext cx="0" cy="274320"/>
          </a:xfrm>
          <a:prstGeom prst="straightConnector1">
            <a:avLst/>
          </a:prstGeom>
          <a:noFill/>
          <a:ln cap="flat" cmpd="sng" w="25400">
            <a:solidFill>
              <a:srgbClr val="3D99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" name="Google Shape;193;p7"/>
          <p:cNvSpPr/>
          <p:nvPr/>
        </p:nvSpPr>
        <p:spPr>
          <a:xfrm>
            <a:off x="1005840" y="2633472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Guideline Matching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1005840" y="2999232"/>
            <a:ext cx="7772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Treatment Planner cross-references NICE guidelines and proposes personalised care pathway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320040" y="3511296"/>
            <a:ext cx="530352" cy="530352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320040" y="3511296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9970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3D9970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" name="Google Shape;197;p7"/>
          <p:cNvCxnSpPr/>
          <p:nvPr/>
        </p:nvCxnSpPr>
        <p:spPr>
          <a:xfrm>
            <a:off x="576072" y="4041648"/>
            <a:ext cx="0" cy="274320"/>
          </a:xfrm>
          <a:prstGeom prst="straightConnector1">
            <a:avLst/>
          </a:prstGeom>
          <a:noFill/>
          <a:ln cap="flat" cmpd="sng" w="25400">
            <a:solidFill>
              <a:srgbClr val="3D99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p7"/>
          <p:cNvSpPr/>
          <p:nvPr/>
        </p:nvSpPr>
        <p:spPr>
          <a:xfrm>
            <a:off x="1005840" y="3456432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Explanation Delivery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05840" y="3822192"/>
            <a:ext cx="7772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Clinician Liaison Agent presents SHAP-annotated summary: 'Elevated troponin (weight: 0.42) is the primary driver'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320040" y="4334256"/>
            <a:ext cx="530352" cy="530352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320040" y="4334256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9970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3D9970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1005840" y="4279392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Clinician Override Loop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1005840" y="4645152"/>
            <a:ext cx="7772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Clinician accepts, modifies, or overrides — system learns and recalibrates trust score for future cases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8EA8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411480" y="182880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Projected Impact on Clinical Decision-Making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1" name="Google Shape;211;p8"/>
          <p:cNvGraphicFramePr/>
          <p:nvPr/>
        </p:nvGraphicFramePr>
        <p:xfrm>
          <a:off x="365760" y="960120"/>
          <a:ext cx="5303520" cy="379476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12" name="Google Shape;212;p8"/>
          <p:cNvSpPr/>
          <p:nvPr/>
        </p:nvSpPr>
        <p:spPr>
          <a:xfrm>
            <a:off x="5943600" y="1097280"/>
            <a:ext cx="2834640" cy="1097280"/>
          </a:xfrm>
          <a:prstGeom prst="rect">
            <a:avLst/>
          </a:prstGeom>
          <a:solidFill>
            <a:srgbClr val="13315C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5943600" y="1097280"/>
            <a:ext cx="2834640" cy="64008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5989320" y="1188720"/>
            <a:ext cx="2743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9970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3D9970"/>
                </a:solidFill>
                <a:latin typeface="Georgia"/>
                <a:ea typeface="Georgia"/>
                <a:cs typeface="Georgia"/>
                <a:sym typeface="Georgia"/>
              </a:rPr>
              <a:t>+17%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5989320" y="178308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EF2F7"/>
                </a:solidFill>
                <a:latin typeface="Calibri"/>
                <a:ea typeface="Calibri"/>
                <a:cs typeface="Calibri"/>
                <a:sym typeface="Calibri"/>
              </a:rPr>
              <a:t>Diagnostic Accuracy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5943600" y="2395728"/>
            <a:ext cx="2834640" cy="1097280"/>
          </a:xfrm>
          <a:prstGeom prst="rect">
            <a:avLst/>
          </a:prstGeom>
          <a:solidFill>
            <a:srgbClr val="13315C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5943600" y="2395728"/>
            <a:ext cx="2834640" cy="64008"/>
          </a:xfrm>
          <a:prstGeom prst="rect">
            <a:avLst/>
          </a:prstGeom>
          <a:solidFill>
            <a:srgbClr val="8EA8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5989320" y="2487168"/>
            <a:ext cx="2743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A8C3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8EA8C3"/>
                </a:solidFill>
                <a:latin typeface="Georgia"/>
                <a:ea typeface="Georgia"/>
                <a:cs typeface="Georgia"/>
                <a:sym typeface="Georgia"/>
              </a:rPr>
              <a:t>+27%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5989320" y="3081528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EF2F7"/>
                </a:solidFill>
                <a:latin typeface="Calibri"/>
                <a:ea typeface="Calibri"/>
                <a:cs typeface="Calibri"/>
                <a:sym typeface="Calibri"/>
              </a:rPr>
              <a:t>Decision Speed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5943600" y="3694176"/>
            <a:ext cx="2834640" cy="1097280"/>
          </a:xfrm>
          <a:prstGeom prst="rect">
            <a:avLst/>
          </a:prstGeom>
          <a:solidFill>
            <a:srgbClr val="13315C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5943600" y="3694176"/>
            <a:ext cx="2834640" cy="64008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5989320" y="3785616"/>
            <a:ext cx="2743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838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E8A838"/>
                </a:solidFill>
                <a:latin typeface="Georgia"/>
                <a:ea typeface="Georgia"/>
                <a:cs typeface="Georgia"/>
                <a:sym typeface="Georgia"/>
              </a:rPr>
              <a:t>+23%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5989320" y="4379976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2F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EF2F7"/>
                </a:solidFill>
                <a:latin typeface="Calibri"/>
                <a:ea typeface="Calibri"/>
                <a:cs typeface="Calibri"/>
                <a:sym typeface="Calibri"/>
              </a:rPr>
              <a:t>Clinician Confidence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Evaluation Strategy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320040" y="100584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970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3D9970"/>
                </a:solidFill>
                <a:latin typeface="Georgia"/>
                <a:ea typeface="Georgia"/>
                <a:cs typeface="Georgia"/>
                <a:sym typeface="Georgia"/>
              </a:rPr>
              <a:t>Quantitative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320040" y="1554480"/>
            <a:ext cx="41605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320040" y="1554480"/>
            <a:ext cx="73152" cy="713232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502920" y="1645920"/>
            <a:ext cx="38587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Diagnostic accuracy vs. MIMIC-III ground truth labels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320040" y="2395728"/>
            <a:ext cx="41605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320040" y="2395728"/>
            <a:ext cx="73152" cy="713232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502920" y="2487168"/>
            <a:ext cx="38587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F1-score per disease category across 5 clinical domains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320040" y="3236976"/>
            <a:ext cx="41605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320040" y="3236976"/>
            <a:ext cx="73152" cy="713232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502920" y="3328416"/>
            <a:ext cx="38587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Mean time-to-recommendation vs. baseline clinical workflow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320040" y="4078224"/>
            <a:ext cx="41605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320040" y="4078224"/>
            <a:ext cx="73152" cy="713232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502920" y="4169664"/>
            <a:ext cx="38587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Agent pipeline latency under varying patient load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4754880" y="100584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A8C3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8EA8C3"/>
                </a:solidFill>
                <a:latin typeface="Georgia"/>
                <a:ea typeface="Georgia"/>
                <a:cs typeface="Georgia"/>
                <a:sym typeface="Georgia"/>
              </a:rPr>
              <a:t>Qualitative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4754880" y="1554480"/>
            <a:ext cx="41605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4754880" y="1554480"/>
            <a:ext cx="73152" cy="713232"/>
          </a:xfrm>
          <a:prstGeom prst="rect">
            <a:avLst/>
          </a:prstGeom>
          <a:solidFill>
            <a:srgbClr val="8EA8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4937760" y="1645920"/>
            <a:ext cx="38587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Clinician usability study (n=8 simulated personas)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4754880" y="2395728"/>
            <a:ext cx="41605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4754880" y="2395728"/>
            <a:ext cx="73152" cy="713232"/>
          </a:xfrm>
          <a:prstGeom prst="rect">
            <a:avLst/>
          </a:prstGeom>
          <a:solidFill>
            <a:srgbClr val="8EA8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4937760" y="2487168"/>
            <a:ext cx="38587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XAI explanation clarity rated on 5-point Likert scale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4754880" y="3236976"/>
            <a:ext cx="41605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4754880" y="3236976"/>
            <a:ext cx="73152" cy="713232"/>
          </a:xfrm>
          <a:prstGeom prst="rect">
            <a:avLst/>
          </a:prstGeom>
          <a:solidFill>
            <a:srgbClr val="8EA8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4937760" y="3328416"/>
            <a:ext cx="38587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Trust calibration analysis: override vs. acceptance rates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4754880" y="4078224"/>
            <a:ext cx="41605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4754880" y="4078224"/>
            <a:ext cx="73152" cy="713232"/>
          </a:xfrm>
          <a:prstGeom prst="rect">
            <a:avLst/>
          </a:prstGeom>
          <a:solidFill>
            <a:srgbClr val="8EA8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4937760" y="4169664"/>
            <a:ext cx="38587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Cognitive load measurement via NASA-TLX instrument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411480" y="182880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Ethical Considerations &amp; Governance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365760" y="1005840"/>
            <a:ext cx="4206240" cy="1572768"/>
          </a:xfrm>
          <a:prstGeom prst="rect">
            <a:avLst/>
          </a:prstGeom>
          <a:solidFill>
            <a:srgbClr val="13315C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365760" y="1005840"/>
            <a:ext cx="420624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6" name="Google Shape;26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17043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0"/>
          <p:cNvSpPr/>
          <p:nvPr/>
        </p:nvSpPr>
        <p:spPr>
          <a:xfrm>
            <a:off x="1005840" y="1097280"/>
            <a:ext cx="3429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970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3D9970"/>
                </a:solidFill>
                <a:latin typeface="Georgia"/>
                <a:ea typeface="Georgia"/>
                <a:cs typeface="Georgia"/>
                <a:sym typeface="Georgia"/>
              </a:rPr>
              <a:t>EU AI Act Compliance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502920" y="1600200"/>
            <a:ext cx="39319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EF2F7"/>
                </a:solidFill>
                <a:latin typeface="Calibri"/>
                <a:ea typeface="Calibri"/>
                <a:cs typeface="Calibri"/>
                <a:sym typeface="Calibri"/>
              </a:rPr>
              <a:t>CareAgent is classified as a High-Risk AI system under Article 6. Full conformity assessment, CE marking pathway, and post-market monitoring are embedded in the design.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4800600" y="1005840"/>
            <a:ext cx="4206240" cy="1572768"/>
          </a:xfrm>
          <a:prstGeom prst="rect">
            <a:avLst/>
          </a:prstGeom>
          <a:solidFill>
            <a:srgbClr val="13315C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4800600" y="1005840"/>
            <a:ext cx="420624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1" name="Google Shape;27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7760" y="117043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0"/>
          <p:cNvSpPr/>
          <p:nvPr/>
        </p:nvSpPr>
        <p:spPr>
          <a:xfrm>
            <a:off x="5440680" y="1097280"/>
            <a:ext cx="3429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970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3D9970"/>
                </a:solidFill>
                <a:latin typeface="Georgia"/>
                <a:ea typeface="Georgia"/>
                <a:cs typeface="Georgia"/>
                <a:sym typeface="Georgia"/>
              </a:rPr>
              <a:t>Human-in-the-Loop by Design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4937760" y="1600200"/>
            <a:ext cx="39319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EF2F7"/>
                </a:solidFill>
                <a:latin typeface="Calibri"/>
                <a:ea typeface="Calibri"/>
                <a:cs typeface="Calibri"/>
                <a:sym typeface="Calibri"/>
              </a:rPr>
              <a:t>No recommendation is actioned without explicit clinician approval. The system augments, never replaces, clinical judgment — in accordance with NHS AI Ethics Guidelines (2023).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365760" y="2743200"/>
            <a:ext cx="4206240" cy="1572768"/>
          </a:xfrm>
          <a:prstGeom prst="rect">
            <a:avLst/>
          </a:prstGeom>
          <a:solidFill>
            <a:srgbClr val="13315C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365760" y="2743200"/>
            <a:ext cx="420624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6" name="Google Shape;27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0" y="290779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0"/>
          <p:cNvSpPr/>
          <p:nvPr/>
        </p:nvSpPr>
        <p:spPr>
          <a:xfrm>
            <a:off x="1005840" y="2834640"/>
            <a:ext cx="3429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970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3D9970"/>
                </a:solidFill>
                <a:latin typeface="Georgia"/>
                <a:ea typeface="Georgia"/>
                <a:cs typeface="Georgia"/>
                <a:sym typeface="Georgia"/>
              </a:rPr>
              <a:t>Bias Auditing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502920" y="3337560"/>
            <a:ext cx="39319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EF2F7"/>
                </a:solidFill>
                <a:latin typeface="Calibri"/>
                <a:ea typeface="Calibri"/>
                <a:cs typeface="Calibri"/>
                <a:sym typeface="Calibri"/>
              </a:rPr>
              <a:t>Fairness audits across demographic sub-groups (age, sex, ethnicity) are run monthly against MIMIC-III stratified cohorts to prevent health outcome disparities.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4800600" y="2743200"/>
            <a:ext cx="4206240" cy="1572768"/>
          </a:xfrm>
          <a:prstGeom prst="rect">
            <a:avLst/>
          </a:prstGeom>
          <a:solidFill>
            <a:srgbClr val="13315C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4800600" y="2743200"/>
            <a:ext cx="420624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1" name="Google Shape;28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7760" y="290779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0"/>
          <p:cNvSpPr/>
          <p:nvPr/>
        </p:nvSpPr>
        <p:spPr>
          <a:xfrm>
            <a:off x="5440680" y="2834640"/>
            <a:ext cx="3429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970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3D9970"/>
                </a:solidFill>
                <a:latin typeface="Georgia"/>
                <a:ea typeface="Georgia"/>
                <a:cs typeface="Georgia"/>
                <a:sym typeface="Georgia"/>
              </a:rPr>
              <a:t>Data Privacy &amp; GDPR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4937760" y="3337560"/>
            <a:ext cx="39319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EF2F7"/>
                </a:solidFill>
                <a:latin typeface="Calibri"/>
                <a:ea typeface="Calibri"/>
                <a:cs typeface="Calibri"/>
                <a:sym typeface="Calibri"/>
              </a:rPr>
              <a:t>All patient data is processed under UK GDPR Article 9 (special category). Federated learning architecture ensures raw data never leaves the hospital network.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Future Work &amp; Scalability Roadmap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274320" y="1005840"/>
            <a:ext cx="2743200" cy="138988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1"/>
          <p:cNvSpPr/>
          <p:nvPr/>
        </p:nvSpPr>
        <p:spPr>
          <a:xfrm>
            <a:off x="274320" y="1005840"/>
            <a:ext cx="2743200" cy="64008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3" name="Google Shape;29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17043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1"/>
          <p:cNvSpPr/>
          <p:nvPr/>
        </p:nvSpPr>
        <p:spPr>
          <a:xfrm>
            <a:off x="868680" y="1097280"/>
            <a:ext cx="2057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NHS EHR Integration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411480" y="1627632"/>
            <a:ext cx="2487168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Live connection to NHS FHIR-compliant APIs replacing simulated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3218688" y="1005840"/>
            <a:ext cx="2743200" cy="138988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1"/>
          <p:cNvSpPr/>
          <p:nvPr/>
        </p:nvSpPr>
        <p:spPr>
          <a:xfrm>
            <a:off x="3218688" y="1005840"/>
            <a:ext cx="2743200" cy="64008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8" name="Google Shape;29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5848" y="117043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1"/>
          <p:cNvSpPr/>
          <p:nvPr/>
        </p:nvSpPr>
        <p:spPr>
          <a:xfrm>
            <a:off x="3813048" y="1097280"/>
            <a:ext cx="2057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Federated Learning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3355848" y="1627632"/>
            <a:ext cx="2487168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Train across hospital networks without sharing patient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6163056" y="1005840"/>
            <a:ext cx="2743200" cy="138988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1"/>
          <p:cNvSpPr/>
          <p:nvPr/>
        </p:nvSpPr>
        <p:spPr>
          <a:xfrm>
            <a:off x="6163056" y="1005840"/>
            <a:ext cx="2743200" cy="64008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3" name="Google Shape;30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0216" y="117043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1"/>
          <p:cNvSpPr/>
          <p:nvPr/>
        </p:nvSpPr>
        <p:spPr>
          <a:xfrm>
            <a:off x="6757416" y="1097280"/>
            <a:ext cx="2057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Multimodal Imaging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6300216" y="1627632"/>
            <a:ext cx="2487168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Add radiology image analysis via vision-language model agents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274320" y="2578608"/>
            <a:ext cx="2743200" cy="138988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1"/>
          <p:cNvSpPr/>
          <p:nvPr/>
        </p:nvSpPr>
        <p:spPr>
          <a:xfrm>
            <a:off x="274320" y="2578608"/>
            <a:ext cx="2743200" cy="64008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8" name="Google Shape;30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74320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1"/>
          <p:cNvSpPr/>
          <p:nvPr/>
        </p:nvSpPr>
        <p:spPr>
          <a:xfrm>
            <a:off x="868680" y="2670048"/>
            <a:ext cx="2057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Reinforcement Learning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411480" y="3200400"/>
            <a:ext cx="2487168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Agents learn from clinician feedback to improve over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3218688" y="2578608"/>
            <a:ext cx="2743200" cy="138988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1"/>
          <p:cNvSpPr/>
          <p:nvPr/>
        </p:nvSpPr>
        <p:spPr>
          <a:xfrm>
            <a:off x="3218688" y="2578608"/>
            <a:ext cx="2743200" cy="64008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3" name="Google Shape;31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5848" y="274320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1"/>
          <p:cNvSpPr/>
          <p:nvPr/>
        </p:nvSpPr>
        <p:spPr>
          <a:xfrm>
            <a:off x="3813048" y="2670048"/>
            <a:ext cx="2057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Rare Disease Expansion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3355848" y="3200400"/>
            <a:ext cx="2487168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Extend beyond acute care to rare disease differential diagnosis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6163056" y="2578608"/>
            <a:ext cx="2743200" cy="138988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6163056" y="2578608"/>
            <a:ext cx="2743200" cy="64008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8" name="Google Shape;31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0216" y="274320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1"/>
          <p:cNvSpPr/>
          <p:nvPr/>
        </p:nvSpPr>
        <p:spPr>
          <a:xfrm>
            <a:off x="6757416" y="2670048"/>
            <a:ext cx="2057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B2545"/>
                </a:solidFill>
                <a:latin typeface="Georgia"/>
                <a:ea typeface="Georgia"/>
                <a:cs typeface="Georgia"/>
                <a:sym typeface="Georgia"/>
              </a:rPr>
              <a:t>Global Deployment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6300216" y="3200400"/>
            <a:ext cx="2487168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Localise guidelines for WHO, CDC, and regional health bodies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6" name="Google Shape;326;p12"/>
          <p:cNvPicPr preferRelativeResize="0"/>
          <p:nvPr/>
        </p:nvPicPr>
        <p:blipFill rotWithShape="1">
          <a:blip r:embed="rId3">
            <a:alphaModFix amt="12000"/>
          </a:blip>
          <a:srcRect b="0" l="0" r="0" t="0"/>
          <a:stretch/>
        </p:blipFill>
        <p:spPr>
          <a:xfrm>
            <a:off x="5303520" y="27432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D99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2"/>
          <p:cNvSpPr/>
          <p:nvPr/>
        </p:nvSpPr>
        <p:spPr>
          <a:xfrm>
            <a:off x="411480" y="256032"/>
            <a:ext cx="64008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Key Takeaways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9" name="Google Shape;32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118872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2"/>
          <p:cNvSpPr/>
          <p:nvPr/>
        </p:nvSpPr>
        <p:spPr>
          <a:xfrm>
            <a:off x="804672" y="1143000"/>
            <a:ext cx="5943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EF2F7"/>
                </a:solidFill>
                <a:latin typeface="Calibri"/>
                <a:ea typeface="Calibri"/>
                <a:cs typeface="Calibri"/>
                <a:sym typeface="Calibri"/>
              </a:rPr>
              <a:t>Real-world problem: diagnostic errors and clinician fatigue cost lives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1" name="Google Shape;33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181051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2"/>
          <p:cNvSpPr/>
          <p:nvPr/>
        </p:nvSpPr>
        <p:spPr>
          <a:xfrm>
            <a:off x="804672" y="1764792"/>
            <a:ext cx="5943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EF2F7"/>
                </a:solidFill>
                <a:latin typeface="Calibri"/>
                <a:ea typeface="Calibri"/>
                <a:cs typeface="Calibri"/>
                <a:sym typeface="Calibri"/>
              </a:rPr>
              <a:t>CareAgent automates triage, synthesis, and planning — at scale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3" name="Google Shape;33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243230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2"/>
          <p:cNvSpPr/>
          <p:nvPr/>
        </p:nvSpPr>
        <p:spPr>
          <a:xfrm>
            <a:off x="804672" y="2386584"/>
            <a:ext cx="5943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EF2F7"/>
                </a:solidFill>
                <a:latin typeface="Calibri"/>
                <a:ea typeface="Calibri"/>
                <a:cs typeface="Calibri"/>
                <a:sym typeface="Calibri"/>
              </a:rPr>
              <a:t>XAI-first: every recommendation is transparent and auditable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5" name="Google Shape;33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305409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2"/>
          <p:cNvSpPr/>
          <p:nvPr/>
        </p:nvSpPr>
        <p:spPr>
          <a:xfrm>
            <a:off x="804672" y="3008376"/>
            <a:ext cx="5943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EF2F7"/>
                </a:solidFill>
                <a:latin typeface="Calibri"/>
                <a:ea typeface="Calibri"/>
                <a:cs typeface="Calibri"/>
                <a:sym typeface="Calibri"/>
              </a:rPr>
              <a:t>Multi-agent design mirrors real clinical teams, but operates 24/7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7" name="Google Shape;33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367588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2"/>
          <p:cNvSpPr/>
          <p:nvPr/>
        </p:nvSpPr>
        <p:spPr>
          <a:xfrm>
            <a:off x="804672" y="3630168"/>
            <a:ext cx="5943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EF2F7"/>
                </a:solidFill>
                <a:latin typeface="Calibri"/>
                <a:ea typeface="Calibri"/>
                <a:cs typeface="Calibri"/>
                <a:sym typeface="Calibri"/>
              </a:rPr>
              <a:t>EU AI Act compliant, GDPR-ready, and Human-in-the-Loop by design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9" name="Google Shape;33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42976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2"/>
          <p:cNvSpPr/>
          <p:nvPr/>
        </p:nvSpPr>
        <p:spPr>
          <a:xfrm>
            <a:off x="804672" y="4251960"/>
            <a:ext cx="5943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2F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EF2F7"/>
                </a:solidFill>
                <a:latin typeface="Calibri"/>
                <a:ea typeface="Calibri"/>
                <a:cs typeface="Calibri"/>
                <a:sym typeface="Calibri"/>
              </a:rPr>
              <a:t>Grounded in MIMIC-III data — clinically rigorous and evaluable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411480" y="4663440"/>
            <a:ext cx="5029200" cy="45720"/>
          </a:xfrm>
          <a:prstGeom prst="rect">
            <a:avLst/>
          </a:prstGeom>
          <a:solidFill>
            <a:srgbClr val="7B92A8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2"/>
          <p:cNvSpPr/>
          <p:nvPr/>
        </p:nvSpPr>
        <p:spPr>
          <a:xfrm>
            <a:off x="411480" y="4754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997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3D9970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2026-04-28T09:53:17Z</dcterms:created>
  <dc:creator>PptxGenJS</dc:creator>
</cp:coreProperties>
</file>